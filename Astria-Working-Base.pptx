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v0.2 replaces the 'continuity layer' framing with the persistent-record thesis, after a competitive check found the continuity/workflow claim was weaker than we thought. Read slides 3–5 first; they carry the argument. Slide 10 is the honest competitive picture. Slide 13 is your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Binswanger et al., NEJM 2007 (12.7×, 95% CI 9.2–17.4, first two weeks post-release). BJS Jails Report Series 2024 (7.9M admissions, July 2023–June 2024). Transitions Clinic Network site list. The TCN randomised trial (Wang et al., AJPH 2012) cut ED use from 39.2% to 25.5% AGAINST A CONTROL GROUP THAT ALREADY HAD EXPEDITED PRIMARY CARE — access was not the constraint, the relationship was. Dig: why 48 and not 480? Answer is on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structural argument and it is the reason the idea might be defensible. Each incumbent's duty and data terminate at a boundary. An MCO cannot follow a disenrolled person — they are no longer a member. That is not a delivery failure you can fix with better outreach; it is constitutive. Dig: confirm disenrolment practice on reincarceration in NC and CA. Confirm how quickly a plan's obligation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whole pitch rests on. Test it hard: ask a jail intake nurse what they actually know about someone on their fourth booking. Ask a reentry CHW how many times they have rebuilt a medication list from a patient's memory. If the answer is 'we get records fine', the thesis is wrong. Related evidence: 'Left Behind in Electronic Access: Control Over Personal Health Information While Incarcerated', J Gen Intern Med 2026 — documents that carceral practice blocks record access and that correctional systems do not integrate with community platforms.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sequencing: we do NOT pitch a personal health record to a payer. We sell the reentry workflow — handoff, coverage, care management, billing capture — and the record accretes as a byproduct. That solves the classic PHR failure mode (nobody maintains a record with no immediate use).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 before committing: (1) what does right-of-access retrieval actually cost per person at volume — Ciitizen did a lot of faxing; (2) does 42 CFR Part 2 complicate SUD records inside a patient-directed record; (3) CMS's 2026 Health Tech Ecosystem Initiative is pushing portable records and apps — read it, it may be a tailwind or a competitor.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1–3 are what a payer buys today. Step 4 is what makes it a company rather than a tool. Do not let the deck imply step 4 is free — carrying a record across reincarceration requires identity matching across systems with no shared identifier (booking number ≠ Medicaid ID ≠ MRN). That is the hardest technical problem in the whole plan and also the moat if 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distinctive mechanic in the deck AND the riskiest. It needs a floor — a minimum contact frequency no confidence score can drop below — or it is a liability story. Open question for the team: what happens to someone the model gets quiet about who then dies? How would we know, and whose fault is it? Have an answer before this is 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scarce resource is the navigator's attention, not her typing. Frame it that way. Design rule to write down now: every outbound message is signed by a named human who can be reached, and who is accountable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could NOT find: any product claiming the record survives reincarceration and intake starts from real history. TRS is reentry-app-first; PerHL is research; Citizen Health is oncology-adjacent. Verify all four independently before presenting — this was a search, not due diligence. Also check: CMS Health Tech Ecosystem Initiative (2026), state HIE justice-involved projects, and whether California DHCS built anything in-house.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remove the right-hand column when this goes to a judge. Naming the kill conditions yourself is the single highest-credibility move available to a pre-validation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we would claim: (1) % with uninterrupted medication supply at day 45 — computable from pharmacy data, moves in 90 days; (2) % attributed and seen at 90/180/365; (3) % with continuous coverage across redetermination — the quiet one; (4) ED use at 90 days. To verify this week: one state's actual fee schedule for pre-release case management. That single number decides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split for five people: one takes the memory wipe + competitors (field calls), one takes identity matching + data agreements (technical), one takes the money (desk research into fee schedules and waiver terms), one takes the humans (shadow a CHW), one argues the opposite case on the premise and reports back. Regroup Friday.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24644" y="1129284"/>
            <a:ext cx="118872" cy="11887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3" name="Shape 1"/>
          <p:cNvSpPr/>
          <p:nvPr/>
        </p:nvSpPr>
        <p:spPr>
          <a:xfrm>
            <a:off x="10657332" y="1604772"/>
            <a:ext cx="82296" cy="82296"/>
          </a:xfrm>
          <a:prstGeom prst="ellipse">
            <a:avLst/>
          </a:prstGeom>
          <a:solidFill>
            <a:srgbClr val="C6D4E6"/>
          </a:solidFill>
          <a:ln/>
        </p:spPr>
      </p:sp>
      <p:sp>
        <p:nvSpPr>
          <p:cNvPr id="4" name="Shape 2"/>
          <p:cNvSpPr/>
          <p:nvPr/>
        </p:nvSpPr>
        <p:spPr>
          <a:xfrm>
            <a:off x="9381744" y="2066544"/>
            <a:ext cx="73152" cy="73152"/>
          </a:xfrm>
          <a:prstGeom prst="ellipse">
            <a:avLst/>
          </a:prstGeom>
          <a:solidFill>
            <a:srgbClr val="C6D4E6"/>
          </a:solidFill>
          <a:ln/>
        </p:spPr>
      </p:sp>
      <p:sp>
        <p:nvSpPr>
          <p:cNvPr id="5" name="Shape 3"/>
          <p:cNvSpPr/>
          <p:nvPr/>
        </p:nvSpPr>
        <p:spPr>
          <a:xfrm>
            <a:off x="11105388" y="2464308"/>
            <a:ext cx="100584" cy="100584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6" name="Shape 4"/>
          <p:cNvSpPr/>
          <p:nvPr/>
        </p:nvSpPr>
        <p:spPr>
          <a:xfrm>
            <a:off x="10117836" y="2894076"/>
            <a:ext cx="64008" cy="64008"/>
          </a:xfrm>
          <a:prstGeom prst="ellipse">
            <a:avLst/>
          </a:prstGeom>
          <a:solidFill>
            <a:srgbClr val="C6D4E6"/>
          </a:solidFill>
          <a:ln/>
        </p:spPr>
      </p:sp>
      <p:sp>
        <p:nvSpPr>
          <p:cNvPr id="7" name="Shape 5"/>
          <p:cNvSpPr/>
          <p:nvPr/>
        </p:nvSpPr>
        <p:spPr>
          <a:xfrm>
            <a:off x="11580876" y="1202436"/>
            <a:ext cx="64008" cy="64008"/>
          </a:xfrm>
          <a:prstGeom prst="ellipse">
            <a:avLst/>
          </a:prstGeom>
          <a:solidFill>
            <a:srgbClr val="C6D4E6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0" y="1188720"/>
            <a:ext cx="914400" cy="457200"/>
          </a:xfrm>
          <a:prstGeom prst="line">
            <a:avLst/>
          </a:prstGeom>
          <a:noFill/>
          <a:ln w="12700">
            <a:solidFill>
              <a:srgbClr val="3B4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2103120"/>
            <a:ext cx="365760" cy="-914400"/>
          </a:xfrm>
          <a:prstGeom prst="line">
            <a:avLst/>
          </a:prstGeom>
          <a:noFill/>
          <a:ln w="12700">
            <a:solidFill>
              <a:srgbClr val="3B4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1645920"/>
            <a:ext cx="457200" cy="868680"/>
          </a:xfrm>
          <a:prstGeom prst="line">
            <a:avLst/>
          </a:prstGeom>
          <a:noFill/>
          <a:ln w="12700">
            <a:solidFill>
              <a:srgbClr val="3B4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BASE · v0.2 · BUILT TO BE ATTACKED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755648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Astria</a:t>
            </a:r>
            <a:endParaRPr lang="en-US" sz="6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17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C6D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 that doesn’t reset.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care for people who cycle in and out of custody — built on the one thing no hospital, plan or jail can be: continuous.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— the care-team product inside it.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035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time ~8 minutes. Every slide has notes underneath with sources and what to go dig into.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weeks after release are the most dangerous in American health care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AE8E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5786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B4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12.7×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death in the first two weeks after release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79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Binswanger, NEJM 2007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5112" y="233172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1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25786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7.9M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 admissions in one year — far fewer unique people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4279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BJS, 2023–24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10144" y="2331720"/>
            <a:ext cx="3456432" cy="2286000"/>
          </a:xfrm>
          <a:prstGeom prst="roundRect">
            <a:avLst>
              <a:gd name="adj" fmla="val 3600"/>
            </a:avLst>
          </a:prstGeom>
          <a:solidFill>
            <a:srgbClr val="F1F4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84464" y="257860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35204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Clinic sites nationally, after twenty years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4279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 Clinic Network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care model that fixes this already exists and has randomised evidence. It has reached 48 sites in two decades.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REAL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health system in America is built on continuous enrolment.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population’s defining trait is that they churn.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22376" y="2926080"/>
            <a:ext cx="146304" cy="146304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health plan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284378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them at disenrolment — the moment risk peaks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22376" y="3639312"/>
            <a:ext cx="146304" cy="146304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3547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355701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them when they fall off the panel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22376" y="4352544"/>
            <a:ext cx="146304" cy="146304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261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jail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42702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has them while they’re inside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22376" y="5065776"/>
            <a:ext cx="146304" cy="146304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4974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 platform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498348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stable member and a stable identity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is working correctly when it drops them.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WHAT THAT ACTUALLY COSTS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revolving door is a memory wipe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re-entry into custody, the system starts from zero. Medications, diagnoses, what was tried, who the emergency contact is, which pharmacy, what dose of buprenorphine worked — all re-discovered by interview, from a person in crisis.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 SYSTEM SEES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371600" y="3108960"/>
            <a:ext cx="1371600" cy="420624"/>
          </a:xfrm>
          <a:prstGeom prst="roundRect">
            <a:avLst>
              <a:gd name="adj" fmla="val 13043"/>
            </a:avLst>
          </a:prstGeom>
          <a:solidFill>
            <a:srgbClr val="FAE8E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2004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108960"/>
            <a:ext cx="1005840" cy="420624"/>
          </a:xfrm>
          <a:prstGeom prst="roundRect">
            <a:avLst>
              <a:gd name="adj" fmla="val 13043"/>
            </a:avLst>
          </a:prstGeom>
          <a:solidFill>
            <a:srgbClr val="F1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32004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custody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24912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reset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0" y="3108960"/>
            <a:ext cx="1737360" cy="420624"/>
          </a:xfrm>
          <a:prstGeom prst="roundRect">
            <a:avLst>
              <a:gd name="adj" fmla="val 13043"/>
            </a:avLst>
          </a:prstGeom>
          <a:solidFill>
            <a:srgbClr val="FAE8E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0" y="32004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462272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3108960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F1F4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0" y="32004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custody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839712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reset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35440" y="3108960"/>
            <a:ext cx="1554480" cy="420624"/>
          </a:xfrm>
          <a:prstGeom prst="roundRect">
            <a:avLst>
              <a:gd name="adj" fmla="val 13043"/>
            </a:avLst>
          </a:prstGeom>
          <a:solidFill>
            <a:srgbClr val="FAE8E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35440" y="32004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68512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reset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95020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intakes. Four medication reconciliations from memory. Nothing carries.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6177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ASTRIA SEES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371600" y="4983480"/>
            <a:ext cx="9418320" cy="420624"/>
          </a:xfrm>
          <a:prstGeom prst="roundRect">
            <a:avLst>
              <a:gd name="adj" fmla="val 13043"/>
            </a:avLst>
          </a:prstGeom>
          <a:solidFill>
            <a:srgbClr val="E0EFE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71600" y="5074920"/>
            <a:ext cx="9418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record — carried by the person, not the institution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8064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fixing this, because no institution exists on both sides of the wall.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THESIS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the one thing that doesn’t drop them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longitudinal record that belongs to the person, not to any institution — and survives disenrolment, reincarceration, moving counties, and a changed phone number.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3456432" cy="2331720"/>
          </a:xfrm>
          <a:prstGeom prst="roundRect">
            <a:avLst>
              <a:gd name="adj" fmla="val 3529"/>
            </a:avLst>
          </a:prstGeom>
          <a:solidFill>
            <a:srgbClr val="1E2A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survives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4904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Reincarceration, disenrolment, relocation. Intake on the fourth booking starts from the real history, not from zero.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3063240"/>
            <a:ext cx="3456432" cy="2331720"/>
          </a:xfrm>
          <a:prstGeom prst="roundRect">
            <a:avLst>
              <a:gd name="adj" fmla="val 3529"/>
            </a:avLst>
          </a:prstGeom>
          <a:solidFill>
            <a:srgbClr val="1E2A4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9432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theirs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374904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Person-held and consent-governed. Corrections, courts and supervision never see it. That is the precondition, not a feature.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10144" y="3063240"/>
            <a:ext cx="3456432" cy="2331720"/>
          </a:xfrm>
          <a:prstGeom prst="roundRect">
            <a:avLst>
              <a:gd name="adj" fmla="val 3529"/>
            </a:avLst>
          </a:prstGeom>
          <a:solidFill>
            <a:srgbClr val="1E2A4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84464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earns its keep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84464" y="3749040"/>
            <a:ext cx="29443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reentry workflow around it is billable today — which is how the record gets built and paid for at all.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is how we acquire the data. The record is why we win.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WHY THIS IS POSSIBLE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can’t make institutions share. You don’t have to.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Right of Access and the Cures Act information-blocking rules give the patient the right to their own data. A patient-directed record can lawfully aggregate what institutions cannot hand to each other.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6492240" cy="1234440"/>
          </a:xfrm>
          <a:prstGeom prst="roundRect">
            <a:avLst>
              <a:gd name="adj" fmla="val 6667"/>
            </a:avLst>
          </a:prstGeom>
          <a:solidFill>
            <a:srgbClr val="FBF0D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108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mechanism, wrong population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19856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Ciitizen built exactly this for cancer patients using right of access. Acquired by Invitae for $325M in 2021; divested and relaunched as Citizen Health in 2024. Nobody has pointed the mechanism here.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389120"/>
            <a:ext cx="6492240" cy="1234440"/>
          </a:xfrm>
          <a:prstGeom prst="roundRect">
            <a:avLst>
              <a:gd name="adj" fmla="val 6667"/>
            </a:avLst>
          </a:prstGeom>
          <a:solidFill>
            <a:srgbClr val="E0EF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5720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solves trust in the same move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82896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the person controls, that supervision cannot see, is the only version this population would accept — and the one thing a plan or a corrections vendor can never credibly offer.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498080" y="1737360"/>
            <a:ext cx="4059936" cy="3886200"/>
          </a:xfrm>
          <a:prstGeom prst="roundRect">
            <a:avLst>
              <a:gd name="adj" fmla="val 2118"/>
            </a:avLst>
          </a:prstGeom>
          <a:solidFill>
            <a:srgbClr val="141E3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spc="15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PERSONAL HEALTH RECORDS USUALLY DIE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256032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Health. HealthVault. A long graveyard. The cause is always the same: healthy people feel no pain, so they don’t maintain it.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3611880"/>
            <a:ext cx="3584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the pain is acute, concrete and repeated.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297680"/>
            <a:ext cx="3584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booked four times has answered the same questions four times, from memory, in withdrawal. The clinician has no history and knows it. Both sides feel it.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1F4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67128"/>
            <a:ext cx="457200" cy="45720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eligibility, payment. Is this person switched on, and who pays for what?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55264" y="3383280"/>
            <a:ext cx="146304" cy="0"/>
          </a:xfrm>
          <a:prstGeom prst="line">
            <a:avLst/>
          </a:prstGeom>
          <a:noFill/>
          <a:ln w="19050">
            <a:solidFill>
              <a:srgbClr val="94A3B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38144" y="196596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1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3712464" y="2167128"/>
            <a:ext cx="457200" cy="45720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12464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712464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facility record into something a clinic will accept — and keep a copy that is the person’s.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53328" y="3383280"/>
            <a:ext cx="146304" cy="0"/>
          </a:xfrm>
          <a:prstGeom prst="line">
            <a:avLst/>
          </a:prstGeom>
          <a:noFill/>
          <a:ln w="19050">
            <a:solidFill>
              <a:srgbClr val="94A3B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36208" y="196596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F1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2167128"/>
            <a:ext cx="457200" cy="457200"/>
          </a:xfrm>
          <a:prstGeom prst="ellipse">
            <a:avLst/>
          </a:prstGeom>
          <a:solidFill>
            <a:srgbClr val="141E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0528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gives the CHW, navigator or council a worklist, a message thread, and a claim that writes itself.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851392" y="3383280"/>
            <a:ext cx="146304" cy="0"/>
          </a:xfrm>
          <a:prstGeom prst="line">
            <a:avLst/>
          </a:prstGeom>
          <a:noFill/>
          <a:ln w="19050">
            <a:solidFill>
              <a:srgbClr val="94A3B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34272" y="1965960"/>
            <a:ext cx="2578608" cy="2880360"/>
          </a:xfrm>
          <a:prstGeom prst="roundRect">
            <a:avLst>
              <a:gd name="adj" fmla="val 3191"/>
            </a:avLst>
          </a:prstGeom>
          <a:solidFill>
            <a:srgbClr val="E0EFEC"/>
          </a:solidFill>
          <a:ln/>
        </p:spPr>
      </p:sp>
      <p:sp>
        <p:nvSpPr>
          <p:cNvPr id="23" name="Shape 21"/>
          <p:cNvSpPr/>
          <p:nvPr/>
        </p:nvSpPr>
        <p:spPr>
          <a:xfrm>
            <a:off x="9308592" y="2167128"/>
            <a:ext cx="457200" cy="457200"/>
          </a:xfrm>
          <a:prstGeom prst="ellipse">
            <a:avLst/>
          </a:prstGeom>
          <a:solidFill>
            <a:srgbClr val="1078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08592" y="22494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308592" y="2788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on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308592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silence. Tighten when a signal breaks. Carry the record through whatever happens next.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141E3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0120" y="537667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contact also refreshes the record — address, backup contact, pharmacy, current needs. The file stays alive because the relationship does.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THE MECHANIC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sets the cadence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signals, not self-report: prescription filled · visit attended · coverage active · clinic attests they’re on the panel · message answered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80160" y="3291840"/>
            <a:ext cx="9692640" cy="0"/>
          </a:xfrm>
          <a:prstGeom prst="line">
            <a:avLst/>
          </a:prstGeom>
          <a:noFill/>
          <a:ln w="25400">
            <a:solidFill>
              <a:srgbClr val="DCE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3200400"/>
            <a:ext cx="182880" cy="182880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7" name="Shape 5"/>
          <p:cNvSpPr/>
          <p:nvPr/>
        </p:nvSpPr>
        <p:spPr>
          <a:xfrm>
            <a:off x="1810512" y="3200400"/>
            <a:ext cx="182880" cy="182880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8" name="Shape 6"/>
          <p:cNvSpPr/>
          <p:nvPr/>
        </p:nvSpPr>
        <p:spPr>
          <a:xfrm>
            <a:off x="2157984" y="3200400"/>
            <a:ext cx="182880" cy="182880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9" name="Shape 7"/>
          <p:cNvSpPr/>
          <p:nvPr/>
        </p:nvSpPr>
        <p:spPr>
          <a:xfrm>
            <a:off x="2505456" y="3200400"/>
            <a:ext cx="182880" cy="182880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10" name="Shape 8"/>
          <p:cNvSpPr/>
          <p:nvPr/>
        </p:nvSpPr>
        <p:spPr>
          <a:xfrm>
            <a:off x="2852928" y="3200400"/>
            <a:ext cx="182880" cy="182880"/>
          </a:xfrm>
          <a:prstGeom prst="ellipse">
            <a:avLst/>
          </a:prstGeom>
          <a:solidFill>
            <a:srgbClr val="BB4F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44752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1–4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44752" y="3611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out. Everything is fragile.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182880" cy="18288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10912" y="3200400"/>
            <a:ext cx="182880" cy="18288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358384" y="3200400"/>
            <a:ext cx="182880" cy="182880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45152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645152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45152" y="3611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Filling, attending, answering.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3200400"/>
            <a:ext cx="182880" cy="182880"/>
          </a:xfrm>
          <a:prstGeom prst="ellipse">
            <a:avLst/>
          </a:prstGeom>
          <a:solidFill>
            <a:srgbClr val="10786B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1392" y="3200400"/>
            <a:ext cx="182880" cy="182880"/>
          </a:xfrm>
          <a:prstGeom prst="ellipse">
            <a:avLst/>
          </a:prstGeom>
          <a:solidFill>
            <a:srgbClr val="10786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85632" y="2560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94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7+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85632" y="27797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Quarterly, then yearly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485632" y="3611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patient. We get quiet.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554480" y="4754880"/>
            <a:ext cx="9692640" cy="0"/>
          </a:xfrm>
          <a:prstGeom prst="line">
            <a:avLst/>
          </a:prstGeom>
          <a:noFill/>
          <a:ln w="22225">
            <a:solidFill>
              <a:srgbClr val="BB4F36"/>
            </a:solidFill>
            <a:prstDash val="dash"/>
            <a:headEnd type="triangle"/>
          </a:ln>
        </p:spPr>
      </p:sp>
      <p:sp>
        <p:nvSpPr>
          <p:cNvPr id="26" name="Shape 24"/>
          <p:cNvSpPr/>
          <p:nvPr/>
        </p:nvSpPr>
        <p:spPr>
          <a:xfrm>
            <a:off x="11247120" y="3456432"/>
            <a:ext cx="0" cy="1298448"/>
          </a:xfrm>
          <a:prstGeom prst="line">
            <a:avLst/>
          </a:prstGeom>
          <a:noFill/>
          <a:ln w="22225">
            <a:solidFill>
              <a:srgbClr val="BB4F3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108960" y="4983480"/>
            <a:ext cx="5943600" cy="868680"/>
          </a:xfrm>
          <a:prstGeom prst="roundRect">
            <a:avLst>
              <a:gd name="adj" fmla="val 9474"/>
            </a:avLst>
          </a:prstGeom>
          <a:solidFill>
            <a:srgbClr val="FAE8E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364992" y="5157216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breaks — missed fill, ED admit, bounced text, redetermination coming — and the cadence tightens itself. Nobody decides.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THE PEOPLE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Argo is what a human opens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Astria watches. Argo is how a person acts on it. The patient never meets either by name — they meet a human being who now has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1E2A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32688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4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3310128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data and decide what matters today</a:t>
            </a:r>
            <a:endParaRPr lang="en-US" sz="1350" dirty="0"/>
          </a:p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message at the right reading level</a:t>
            </a:r>
            <a:endParaRPr lang="en-US" sz="1350" dirty="0"/>
          </a:p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forms, write the encounter note</a:t>
            </a:r>
            <a:endParaRPr lang="en-US" sz="1350" dirty="0"/>
          </a:p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 caseload of two hundred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697480"/>
            <a:ext cx="5285232" cy="3017520"/>
          </a:xfrm>
          <a:prstGeom prst="roundRect">
            <a:avLst>
              <a:gd name="adj" fmla="val 2727"/>
            </a:avLst>
          </a:prstGeom>
          <a:solidFill>
            <a:srgbClr val="3420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56248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E391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556248" y="3310128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as a person, or signs as one</a:t>
            </a:r>
            <a:endParaRPr lang="en-US" sz="1350" dirty="0"/>
          </a:p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Originates the relationship</a:t>
            </a:r>
            <a:endParaRPr lang="en-US" sz="1350" dirty="0"/>
          </a:p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clinical decision</a:t>
            </a:r>
            <a:endParaRPr lang="en-US" sz="1350" dirty="0"/>
          </a:p>
          <a:p>
            <a:pPr marL="190500" indent="-1905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D6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 person as a risk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scruple — a strategy. This population’s distrust of institutions is rational and earned. A connection that turns out to be synthetic is the one failure we could not recover from.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THE HONEST COMPETITIVE CHECK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virgin territory. Not occupied either.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21031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PerHL — Yale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32304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Health Libraries for people returning from incarceration. Qualitative and design stage, not a product.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90672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and a possible collaborator. Same institution as SEICHE and Emily Wang.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55664" y="210312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Reentry Solutions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55664" y="2432304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Techstars Detroit 2024. Reentry app: care teams, resources, social drivers. Leadership includes someone who served 27 years.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55664" y="3090672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commercial. App-first for the returning citizen — the weakest-evidence design. Talk to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6112" y="40690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Health (ex-Ciitizen)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398264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Right-of-access records. $325M exit, divested, relaunched 2024.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056632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mechanism. Not aimed at this population.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3886200"/>
            <a:ext cx="5303520" cy="1783080"/>
          </a:xfrm>
          <a:prstGeom prst="roundRect">
            <a:avLst>
              <a:gd name="adj" fmla="val 4615"/>
            </a:avLst>
          </a:prstGeom>
          <a:solidFill>
            <a:srgbClr val="F1F4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55664" y="4069080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MCOs and care platforms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4398264"/>
            <a:ext cx="4809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Innovaccer, Arcadia, Epic Healthy Planet, plan care management.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5056632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mechanic and the data — but their duty ends at disenrolment. That boundary is our whole thesis.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combines all three: a person-held record, one that survives reincarceration, funded by billing that exists today.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BOTH SIDES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make it real, and what would kill it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E0EF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IN OUR FAVOUR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0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library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066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Release-aware clinical and billing logic across 19 states. Harder to copy every month we maintain it.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46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matching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021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systems with no shared identifier. Genuinely hard — and the moat if we solve it.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agreements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42976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to get, slow for a follower to replicate.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37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data that doesn’t exist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09320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reporting says so. Hold it, publish it, own the evidence base.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285232" cy="3931920"/>
          </a:xfrm>
          <a:prstGeom prst="roundRect">
            <a:avLst>
              <a:gd name="adj" fmla="val 2093"/>
            </a:avLst>
          </a:prstGeom>
          <a:solidFill>
            <a:srgbClr val="FAE8E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057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KILL 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4505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matching is too hard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70662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record can’t survive the cycle, and we’re a workflow tool again.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2461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Right-of-access retrieval doesn’t scale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5021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Ciitizen did a lot of faxing. Know what year one really looks like.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40416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pays for the record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and the intake clinician feel the pain. Neither is obviously the buyer.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37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or platform decides we’re a module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932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own the data. Our defence is that we’re too small and messy to be worth attacking — a bet, not a wall.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SUSTAINABILITY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Paid out of money that already exists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binds every approved reentry demonstration to a minimum package: case management, medication-assisted treatment, and a 30-day supply of all prescribed medications at release. About 19 states have signed up. Almost nobody bills it well.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1E2A4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008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2990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fee, one site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2826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Waiver implementation funds; potentially the 90/10 federal IT match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813048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1E2A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39227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enrolled person, per year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215384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 or the managed care plan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745736"/>
            <a:ext cx="6675120" cy="822960"/>
          </a:xfrm>
          <a:prstGeom prst="roundRect">
            <a:avLst>
              <a:gd name="adj" fmla="val 10000"/>
            </a:avLst>
          </a:prstGeom>
          <a:solidFill>
            <a:srgbClr val="123A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873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4FB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48554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member per month, 12-month episode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0" y="51480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 contract, once the site is billing recurring chronic-care and behavioural-health codes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2880360"/>
            <a:ext cx="3913632" cy="2642616"/>
          </a:xfrm>
          <a:prstGeom prst="roundRect">
            <a:avLst>
              <a:gd name="adj" fmla="val 3114"/>
            </a:avLst>
          </a:prstGeom>
          <a:solidFill>
            <a:srgbClr val="1E2A4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91272" y="3108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ALIGNMENT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891272" y="3456432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6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the longer someone stays connected — ours and the site’s. We get paid more for doing the thing we exist for.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891272" y="452628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FA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price as a percentage of claims captured. Contingency arrangements on Medicaid billing are a compliance problem.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94360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B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we would quote is an assumption until we have interviewed a payer. Say that on stage.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0233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YOUR JOB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6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this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starting position built from literature, not a conclusion built from evidence. Take one. Try to break it. Bring back what you found, not what you agreed with.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3456432" cy="1572768"/>
          </a:xfrm>
          <a:prstGeom prst="roundRect">
            <a:avLst>
              <a:gd name="adj" fmla="val 5233"/>
            </a:avLst>
          </a:prstGeom>
          <a:solidFill>
            <a:srgbClr val="F1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6883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wipe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3580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jail intake nurse what they know on someone’s fourth booking. If records arrive fine, the thesis is dead.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2487168"/>
            <a:ext cx="3456432" cy="1572768"/>
          </a:xfrm>
          <a:prstGeom prst="roundRect">
            <a:avLst>
              <a:gd name="adj" fmla="val 5233"/>
            </a:avLst>
          </a:prstGeom>
          <a:solidFill>
            <a:srgbClr val="F1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1144" y="26883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B4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matching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03580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number ≠ Medicaid ID ≠ MRN. How hard, really? Who has solved it?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10144" y="2487168"/>
            <a:ext cx="3456432" cy="1572768"/>
          </a:xfrm>
          <a:prstGeom prst="roundRect">
            <a:avLst>
              <a:gd name="adj" fmla="val 5233"/>
            </a:avLst>
          </a:prstGeom>
          <a:solidFill>
            <a:srgbClr val="F1F4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66176" y="26883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floor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303580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someone the model gets quiet about who then dies? Whose fault is it?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3456432" cy="1572768"/>
          </a:xfrm>
          <a:prstGeom prst="roundRect">
            <a:avLst>
              <a:gd name="adj" fmla="val 5233"/>
            </a:avLst>
          </a:prstGeom>
          <a:solidFill>
            <a:srgbClr val="F1F4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44256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77316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state’s fee schedule. What does a pre-release encounter actually pay?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5112" y="4224528"/>
            <a:ext cx="3456432" cy="1572768"/>
          </a:xfrm>
          <a:prstGeom prst="roundRect">
            <a:avLst>
              <a:gd name="adj" fmla="val 5233"/>
            </a:avLst>
          </a:prstGeom>
          <a:solidFill>
            <a:srgbClr val="F1F4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81144" y="44256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competitors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81144" y="477316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four on slide 9 independently. Call TRS. Call PerHL at Yale.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10144" y="4224528"/>
            <a:ext cx="3456432" cy="1572768"/>
          </a:xfrm>
          <a:prstGeom prst="roundRect">
            <a:avLst>
              <a:gd name="adj" fmla="val 5233"/>
            </a:avLst>
          </a:prstGeom>
          <a:solidFill>
            <a:srgbClr val="F1F4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66176" y="44256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7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4773168"/>
            <a:ext cx="2980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54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perinatal the right wedge, or a small market wearing a halo? Argue the other side properly.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6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that survives needs a citation. Every feature that survives needs a named human whose work it removes.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Astria — working base v0.2</dc:title>
  <dc:subject>PptxGenJS Presentation</dc:subject>
  <dc:creator>Astria</dc:creator>
  <cp:lastModifiedBy>Astria</cp:lastModifiedBy>
  <cp:revision>1</cp:revision>
  <dcterms:created xsi:type="dcterms:W3CDTF">2026-09-25T15:02:23Z</dcterms:created>
  <dcterms:modified xsi:type="dcterms:W3CDTF">2026-09-25T15:02:23Z</dcterms:modified>
</cp:coreProperties>
</file>