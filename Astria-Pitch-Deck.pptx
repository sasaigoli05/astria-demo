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opens on this slide. Hold it through the first two problem lines before advancing.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1: 'The problem isn't that nobody provides care. It's that nobody owns the transition.'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uhanasaigoli-Desktop-Projects-Astria/d2e3bd46-8980-434f-ba94-01d6e71bac34/scratchpad/assets/logo-rever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696" y="1993392"/>
            <a:ext cx="3346704" cy="2157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444398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340" kern="0" dirty="0">
                <a:solidFill>
                  <a:srgbClr val="AAB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POINT OF CARE.   ONE PATH FORWARD.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074920" y="4956048"/>
            <a:ext cx="2039112" cy="0"/>
          </a:xfrm>
          <a:prstGeom prst="line">
            <a:avLst/>
          </a:prstGeom>
          <a:noFill/>
          <a:ln w="12700">
            <a:solidFill>
              <a:srgbClr val="2E40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0" y="515721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8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chronic-care navigation and reentry health infrastructure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658368"/>
            <a:ext cx="10454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24128"/>
            <a:ext cx="10454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spc="-4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two weeks after release are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spc="-4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most dangerous in American health care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761488"/>
            <a:ext cx="312724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16152" y="305409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3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12.7×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216152" y="3968496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risk of death in the first two weeks after release, compared with the general population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33672" y="2761488"/>
            <a:ext cx="3127248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81144" y="305409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3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81144" y="3968496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people leaving incarceration have a chronic medical, psychiatric, or substance-use condition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98664" y="2761488"/>
            <a:ext cx="3127248" cy="2395728"/>
          </a:xfrm>
          <a:prstGeom prst="roundRect">
            <a:avLst>
              <a:gd name="adj" fmla="val 2672"/>
            </a:avLst>
          </a:prstGeom>
          <a:solidFill>
            <a:srgbClr val="101B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46136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E8B8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that looks like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946136" y="343814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B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overdose.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46136" y="395020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B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Blood pressure nobody managed.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46136" y="446227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B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prescription that ran out on day fifteen.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616305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Binswanger et al., New England Journal of Medicine, 2007  ·  ASPE Report to Congress, 2023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658368"/>
            <a:ext cx="10454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A9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24128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resources exist.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doesn’t.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9077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AA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care, behavioral health, medication, housing, transport — all of it is already there. Nothing connects it across the moment of release.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52460" y="2427732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52360" y="26243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care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77940" y="2921508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77840" y="31181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health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66660" y="3726180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39227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24060" y="2766060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23960" y="29626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35140" y="4475988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46725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395460" y="4046220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4242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15300" y="4960620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A7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51572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658368"/>
            <a:ext cx="10454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KEEPS HAPPENING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24128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spc="-4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Nobody owns the transition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9385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systems, three endpoints. Each one working exactly as designed.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670048"/>
            <a:ext cx="3127248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216152" y="3054096"/>
            <a:ext cx="1042416" cy="0"/>
          </a:xfrm>
          <a:prstGeom prst="line">
            <a:avLst/>
          </a:prstGeom>
          <a:noFill/>
          <a:ln w="13970">
            <a:solidFill>
              <a:srgbClr val="AABE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" y="2994660"/>
            <a:ext cx="118872" cy="118872"/>
          </a:xfrm>
          <a:prstGeom prst="ellipse">
            <a:avLst/>
          </a:prstGeom>
          <a:solidFill>
            <a:srgbClr val="4776E6"/>
          </a:solidFill>
          <a:ln/>
        </p:spPr>
      </p:sp>
      <p:sp>
        <p:nvSpPr>
          <p:cNvPr id="8" name="Shape 6"/>
          <p:cNvSpPr/>
          <p:nvPr/>
        </p:nvSpPr>
        <p:spPr>
          <a:xfrm>
            <a:off x="2199132" y="2994660"/>
            <a:ext cx="118872" cy="118872"/>
          </a:xfrm>
          <a:prstGeom prst="ellipse">
            <a:avLst/>
          </a:prstGeom>
          <a:solidFill>
            <a:srgbClr val="E7E3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16152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jail’s responsibility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3621024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ends at release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70248" y="2670048"/>
            <a:ext cx="3127248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3054096"/>
            <a:ext cx="1042416" cy="0"/>
          </a:xfrm>
          <a:prstGeom prst="line">
            <a:avLst/>
          </a:prstGeom>
          <a:noFill/>
          <a:ln w="13970">
            <a:solidFill>
              <a:srgbClr val="AAB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8284" y="2994660"/>
            <a:ext cx="118872" cy="118872"/>
          </a:xfrm>
          <a:prstGeom prst="ellipse">
            <a:avLst/>
          </a:prstGeom>
          <a:solidFill>
            <a:srgbClr val="4776E6"/>
          </a:solidFill>
          <a:ln/>
        </p:spPr>
      </p:sp>
      <p:sp>
        <p:nvSpPr>
          <p:cNvPr id="14" name="Shape 12"/>
          <p:cNvSpPr/>
          <p:nvPr/>
        </p:nvSpPr>
        <p:spPr>
          <a:xfrm>
            <a:off x="5600700" y="2994660"/>
            <a:ext cx="118872" cy="118872"/>
          </a:xfrm>
          <a:prstGeom prst="ellipse">
            <a:avLst/>
          </a:prstGeom>
          <a:solidFill>
            <a:srgbClr val="E7E3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health plan’s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621024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end at disenrollment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71816" y="2670048"/>
            <a:ext cx="3127248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019288" y="3054096"/>
            <a:ext cx="1042416" cy="0"/>
          </a:xfrm>
          <a:prstGeom prst="line">
            <a:avLst/>
          </a:prstGeom>
          <a:noFill/>
          <a:ln w="13970">
            <a:solidFill>
              <a:srgbClr val="AABE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9852" y="2994660"/>
            <a:ext cx="118872" cy="118872"/>
          </a:xfrm>
          <a:prstGeom prst="ellipse">
            <a:avLst/>
          </a:prstGeom>
          <a:solidFill>
            <a:srgbClr val="4776E6"/>
          </a:solidFill>
          <a:ln/>
        </p:spPr>
      </p:sp>
      <p:sp>
        <p:nvSpPr>
          <p:cNvPr id="20" name="Shape 18"/>
          <p:cNvSpPr/>
          <p:nvPr/>
        </p:nvSpPr>
        <p:spPr>
          <a:xfrm>
            <a:off x="9002268" y="2994660"/>
            <a:ext cx="118872" cy="118872"/>
          </a:xfrm>
          <a:prstGeom prst="ellipse">
            <a:avLst/>
          </a:prstGeom>
          <a:solidFill>
            <a:srgbClr val="E7E3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19288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clinic loses someone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19288" y="3621024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they disappear from its panel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4700016"/>
            <a:ext cx="10460736" cy="841248"/>
          </a:xfrm>
          <a:prstGeom prst="roundRect">
            <a:avLst>
              <a:gd name="adj" fmla="val 7609"/>
            </a:avLst>
          </a:prstGeom>
          <a:solidFill>
            <a:srgbClr val="101B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89304" y="49560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system can work exactly as designed — and the patient can still fall through the middle.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658368"/>
            <a:ext cx="10454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A9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2412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Astria connects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points.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9077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9AA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intelligent navigation system for the entire journey — before release, through the first year, and across whatever happens next.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46520" y="2990088"/>
            <a:ext cx="1188720" cy="804672"/>
          </a:xfrm>
          <a:prstGeom prst="line">
            <a:avLst/>
          </a:prstGeom>
          <a:noFill/>
          <a:ln w="13970">
            <a:solidFill>
              <a:srgbClr val="3E52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3794760"/>
            <a:ext cx="-731520" cy="749808"/>
          </a:xfrm>
          <a:prstGeom prst="line">
            <a:avLst/>
          </a:prstGeom>
          <a:noFill/>
          <a:ln w="13970">
            <a:solidFill>
              <a:srgbClr val="3E52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4544568"/>
            <a:ext cx="1280160" cy="484632"/>
          </a:xfrm>
          <a:prstGeom prst="line">
            <a:avLst/>
          </a:prstGeom>
          <a:noFill/>
          <a:ln w="13970">
            <a:solidFill>
              <a:srgbClr val="3E52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83880" y="5029200"/>
            <a:ext cx="1280160" cy="-914400"/>
          </a:xfrm>
          <a:prstGeom prst="line">
            <a:avLst/>
          </a:prstGeom>
          <a:noFill/>
          <a:ln w="13970">
            <a:solidFill>
              <a:srgbClr val="3E52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64040" y="4114800"/>
            <a:ext cx="-1143000" cy="-1618488"/>
          </a:xfrm>
          <a:prstGeom prst="line">
            <a:avLst/>
          </a:prstGeom>
          <a:noFill/>
          <a:ln w="13970">
            <a:solidFill>
              <a:srgbClr val="3E52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2496312"/>
            <a:ext cx="1371600" cy="338328"/>
          </a:xfrm>
          <a:prstGeom prst="line">
            <a:avLst/>
          </a:prstGeom>
          <a:noFill/>
          <a:ln w="13970">
            <a:solidFill>
              <a:srgbClr val="3E52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0" y="2834640"/>
            <a:ext cx="841248" cy="-731520"/>
          </a:xfrm>
          <a:prstGeom prst="line">
            <a:avLst/>
          </a:prstGeom>
          <a:noFill/>
          <a:ln w="13970">
            <a:solidFill>
              <a:srgbClr val="6C5A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15016" y="1837944"/>
            <a:ext cx="384048" cy="384048"/>
          </a:xfrm>
          <a:prstGeom prst="star4">
            <a:avLst/>
          </a:prstGeom>
          <a:solidFill>
            <a:srgbClr val="E8B85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85832" y="2377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E8B8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43316" y="2418588"/>
            <a:ext cx="155448" cy="155448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52360" y="21671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care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77940" y="2921508"/>
            <a:ext cx="137160" cy="137160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77840" y="31181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health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66660" y="3726180"/>
            <a:ext cx="137160" cy="137160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39227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14916" y="2756916"/>
            <a:ext cx="155448" cy="155448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823960" y="29626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35140" y="4475988"/>
            <a:ext cx="137160" cy="137160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35040" y="46725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395460" y="4046220"/>
            <a:ext cx="137160" cy="137160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95360" y="4242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115300" y="4960620"/>
            <a:ext cx="137160" cy="137160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0" y="51572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616305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→ Path → Star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658368"/>
            <a:ext cx="10454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24128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spc="-4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Argo meets facilities where they are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9202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than 5% of state corrections departments can exchange structured medical data. So Astria doesn’t require interoperability that doesn’t exist.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834640"/>
            <a:ext cx="2395728" cy="2231136"/>
          </a:xfrm>
          <a:prstGeom prst="roundRect">
            <a:avLst>
              <a:gd name="adj" fmla="val 286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" y="3118104"/>
            <a:ext cx="274320" cy="274320"/>
          </a:xfrm>
          <a:prstGeom prst="ellipse">
            <a:avLst/>
          </a:prstGeom>
          <a:solidFill>
            <a:srgbClr val="4776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33856" y="31455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Any format in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895344"/>
            <a:ext cx="188366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fax, a scan, a spreadsheet, a discharge record — whatever the facility actually has.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00984" y="3950208"/>
            <a:ext cx="182880" cy="0"/>
          </a:xfrm>
          <a:prstGeom prst="line">
            <a:avLst/>
          </a:prstGeom>
          <a:noFill/>
          <a:ln w="15875">
            <a:solidFill>
              <a:srgbClr val="AABE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834640"/>
            <a:ext cx="2395728" cy="2231136"/>
          </a:xfrm>
          <a:prstGeom prst="roundRect">
            <a:avLst>
              <a:gd name="adj" fmla="val 286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785616" y="3118104"/>
            <a:ext cx="274320" cy="274320"/>
          </a:xfrm>
          <a:prstGeom prst="ellipse">
            <a:avLst/>
          </a:prstGeom>
          <a:solidFill>
            <a:srgbClr val="4776E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85616" y="31455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Argo extracts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3895344"/>
            <a:ext cx="188366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Conditions, medications and days of supply, release date, contacts. Missing fields become tasks, not blanks.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52744" y="3950208"/>
            <a:ext cx="182880" cy="0"/>
          </a:xfrm>
          <a:prstGeom prst="line">
            <a:avLst/>
          </a:prstGeom>
          <a:noFill/>
          <a:ln w="15875">
            <a:solidFill>
              <a:srgbClr val="AABE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834640"/>
            <a:ext cx="2395728" cy="2231136"/>
          </a:xfrm>
          <a:prstGeom prst="roundRect">
            <a:avLst>
              <a:gd name="adj" fmla="val 286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37376" y="3118104"/>
            <a:ext cx="274320" cy="274320"/>
          </a:xfrm>
          <a:prstGeom prst="ellipse">
            <a:avLst/>
          </a:prstGeom>
          <a:solidFill>
            <a:srgbClr val="4776E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7376" y="31455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Coverage assembled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895344"/>
            <a:ext cx="188366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Argo assembles the Medicaid application so a certified assister can submit in minutes.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04504" y="3950208"/>
            <a:ext cx="182880" cy="0"/>
          </a:xfrm>
          <a:prstGeom prst="line">
            <a:avLst/>
          </a:prstGeom>
          <a:noFill/>
          <a:ln w="15875">
            <a:solidFill>
              <a:srgbClr val="AABE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2834640"/>
            <a:ext cx="2395728" cy="2231136"/>
          </a:xfrm>
          <a:prstGeom prst="roundRect">
            <a:avLst>
              <a:gd name="adj" fmla="val 2869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089136" y="3118104"/>
            <a:ext cx="274320" cy="274320"/>
          </a:xfrm>
          <a:prstGeom prst="ellipse">
            <a:avLst/>
          </a:prstGeom>
          <a:solidFill>
            <a:srgbClr val="91B5A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89136" y="31455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usable record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3895344"/>
            <a:ext cx="188366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baseline the care team can act on from day one.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" y="5285232"/>
            <a:ext cx="10460736" cy="658368"/>
          </a:xfrm>
          <a:prstGeom prst="roundRect">
            <a:avLst>
              <a:gd name="adj" fmla="val 9722"/>
            </a:avLst>
          </a:prstGeom>
          <a:solidFill>
            <a:srgbClr val="EFECE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71016" y="546811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with a human in the loop. Argo compresses the paperwork so the care team spends its time on people.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658368"/>
            <a:ext cx="10454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24128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spc="-4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identifier that survives the gaps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encrypted Astria ID resolves a person’s booking number, Medicaid ID, and clinic records back to the same human being.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3163824"/>
            <a:ext cx="3017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79576" y="32826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Booking number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330098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41064" y="3447288"/>
            <a:ext cx="1261872" cy="448056"/>
          </a:xfrm>
          <a:prstGeom prst="line">
            <a:avLst/>
          </a:prstGeom>
          <a:noFill/>
          <a:ln w="13970">
            <a:solidFill>
              <a:srgbClr val="AAB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877056"/>
            <a:ext cx="3017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9576" y="3995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Medicaid ID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401421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41064" y="4160520"/>
            <a:ext cx="1261872" cy="-265176"/>
          </a:xfrm>
          <a:prstGeom prst="line">
            <a:avLst/>
          </a:prstGeom>
          <a:noFill/>
          <a:ln w="13970">
            <a:solidFill>
              <a:srgbClr val="AAB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590288"/>
            <a:ext cx="3017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9576" y="47091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Clinic record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47274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41064" y="4873752"/>
            <a:ext cx="1261872" cy="-978408"/>
          </a:xfrm>
          <a:prstGeom prst="line">
            <a:avLst/>
          </a:prstGeom>
          <a:noFill/>
          <a:ln w="13970">
            <a:solidFill>
              <a:srgbClr val="AABE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9512" y="3108960"/>
            <a:ext cx="2743200" cy="1572768"/>
          </a:xfrm>
          <a:prstGeom prst="roundRect">
            <a:avLst>
              <a:gd name="adj" fmla="val 4070"/>
            </a:avLst>
          </a:prstGeom>
          <a:solidFill>
            <a:srgbClr val="101B2D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3952" y="3355848"/>
            <a:ext cx="274320" cy="274320"/>
          </a:xfrm>
          <a:prstGeom prst="star4">
            <a:avLst/>
          </a:prstGeom>
          <a:solidFill>
            <a:srgbClr val="E8B8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49240" y="37856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spc="22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ASTRIA ID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22392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AA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Encrypted. Internal. Never visible to corrections, courts, probation or parole.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311896" y="33467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 losing coverage, changing counties, or returning to custody doesn’t mean starting over.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11896" y="429768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record follows the person, not the institution.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658368"/>
            <a:ext cx="10454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HUMAN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24128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spc="-4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Software isn’t the intervention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157984"/>
            <a:ext cx="4882896" cy="3236976"/>
          </a:xfrm>
          <a:prstGeom prst="roundRect">
            <a:avLst>
              <a:gd name="adj" fmla="val 197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71016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271016" y="277977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3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39.2%  →  25.5%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271016" y="36576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Emergency-department use, after adding a community health worker to the care team — measured against a comparison group that already received expedited primary care.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71016" y="48463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Transitions Clinic Network · Wang et al., AJPH, 2012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2157984"/>
            <a:ext cx="5248656" cy="3236976"/>
          </a:xfrm>
          <a:prstGeom prst="roundRect">
            <a:avLst>
              <a:gd name="adj" fmla="val 1977"/>
            </a:avLst>
          </a:prstGeom>
          <a:solidFill>
            <a:srgbClr val="101B2D"/>
          </a:solidFill>
          <a:ln/>
        </p:spPr>
      </p:sp>
      <p:sp>
        <p:nvSpPr>
          <p:cNvPr id="10" name="Shape 8"/>
          <p:cNvSpPr/>
          <p:nvPr/>
        </p:nvSpPr>
        <p:spPr>
          <a:xfrm>
            <a:off x="6382512" y="2478024"/>
            <a:ext cx="237744" cy="237744"/>
          </a:xfrm>
          <a:prstGeom prst="star4">
            <a:avLst/>
          </a:prstGeom>
          <a:solidFill>
            <a:srgbClr val="E8B8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39128" y="2450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Astria member gets a Care Promoter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926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B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community health worker who knows their name, their plan, and what happened last week.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41948" y="3634740"/>
            <a:ext cx="82296" cy="82296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84264" y="35844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5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person where we have local staff, by phone or video where we don’t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1948" y="4165092"/>
            <a:ext cx="82296" cy="82296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84264" y="411480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5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care team built around what they actually need — chronic disease, behavioral health, substance-use treatment, maternal care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1948" y="4695444"/>
            <a:ext cx="82296" cy="82296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84264" y="464515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5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Argo takes the administrative load so this person can spend time building trust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616305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can do the paperwork. It cannot do the trust.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658368"/>
            <a:ext cx="10454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NETWORK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24128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spc="-4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Astria doesn’t build a parallel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connects the infrastructure already doing this work, so a plan reflects what is genuinely available near that person.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798064"/>
            <a:ext cx="239572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" y="3122676"/>
            <a:ext cx="137160" cy="137160"/>
          </a:xfrm>
          <a:prstGeom prst="ellipse">
            <a:avLst/>
          </a:prstGeom>
          <a:solidFill>
            <a:srgbClr val="4776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72184" y="307238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care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2798064"/>
            <a:ext cx="239572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817620" y="3122676"/>
            <a:ext cx="137160" cy="137160"/>
          </a:xfrm>
          <a:prstGeom prst="ellipse">
            <a:avLst/>
          </a:prstGeom>
          <a:solidFill>
            <a:srgbClr val="4776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23944" y="307238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health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2798064"/>
            <a:ext cx="239572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69380" y="3122676"/>
            <a:ext cx="137160" cy="137160"/>
          </a:xfrm>
          <a:prstGeom prst="ellipse">
            <a:avLst/>
          </a:prstGeom>
          <a:solidFill>
            <a:srgbClr val="4776E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75704" y="307238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Substance-use treatment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23960" y="2798064"/>
            <a:ext cx="239572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121140" y="3122676"/>
            <a:ext cx="137160" cy="137160"/>
          </a:xfrm>
          <a:prstGeom prst="ellipse">
            <a:avLst/>
          </a:prstGeom>
          <a:solidFill>
            <a:srgbClr val="91B5A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27464" y="307238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3822192"/>
            <a:ext cx="239572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5860" y="4146804"/>
            <a:ext cx="137160" cy="137160"/>
          </a:xfrm>
          <a:prstGeom prst="ellipse">
            <a:avLst/>
          </a:prstGeom>
          <a:solidFill>
            <a:srgbClr val="91B5A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472184" y="409651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20440" y="3822192"/>
            <a:ext cx="239572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817620" y="4146804"/>
            <a:ext cx="137160" cy="137160"/>
          </a:xfrm>
          <a:prstGeom prst="ellipse">
            <a:avLst/>
          </a:prstGeom>
          <a:solidFill>
            <a:srgbClr val="91B5A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123944" y="409651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&amp; benefits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3822192"/>
            <a:ext cx="239572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69380" y="4146804"/>
            <a:ext cx="137160" cy="137160"/>
          </a:xfrm>
          <a:prstGeom prst="ellipse">
            <a:avLst/>
          </a:prstGeom>
          <a:solidFill>
            <a:srgbClr val="91B5A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75704" y="409651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Employment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823960" y="3822192"/>
            <a:ext cx="239572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121140" y="4146804"/>
            <a:ext cx="137160" cy="137160"/>
          </a:xfrm>
          <a:prstGeom prst="ellipse">
            <a:avLst/>
          </a:prstGeom>
          <a:solidFill>
            <a:srgbClr val="68738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27464" y="4096512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0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referral networks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68680" y="5084064"/>
            <a:ext cx="10460736" cy="786384"/>
          </a:xfrm>
          <a:prstGeom prst="roundRect">
            <a:avLst>
              <a:gd name="adj" fmla="val 8140"/>
            </a:avLst>
          </a:prstGeom>
          <a:solidFill>
            <a:srgbClr val="EFECE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89304" y="532180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route through whatever a state already pays for — not around 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658368"/>
            <a:ext cx="10454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8A94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24128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28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States are already paying for the transition.</a:t>
            </a:r>
            <a:endParaRPr lang="en-US" sz="28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800" b="1" spc="-4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challenge is delivering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2834640"/>
            <a:ext cx="3236976" cy="1975104"/>
          </a:xfrm>
          <a:prstGeom prst="roundRect">
            <a:avLst>
              <a:gd name="adj" fmla="val 3241"/>
            </a:avLst>
          </a:prstGeom>
          <a:solidFill>
            <a:srgbClr val="2A3A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309067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30" kern="0" dirty="0">
                <a:solidFill>
                  <a:srgbClr val="E8B85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~19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913632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B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states with approved Medicaid reentry demonstrations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79976" y="2834640"/>
            <a:ext cx="3236976" cy="1975104"/>
          </a:xfrm>
          <a:prstGeom prst="roundRect">
            <a:avLst>
              <a:gd name="adj" fmla="val 3241"/>
            </a:avLst>
          </a:prstGeom>
          <a:solidFill>
            <a:srgbClr val="2A3A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45736" y="309067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30" kern="0" dirty="0">
                <a:solidFill>
                  <a:srgbClr val="E8B85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745736" y="3913632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B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CMS requires: case management, MAT when appropriate, and medication in hand at release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91272" y="2834640"/>
            <a:ext cx="3236976" cy="1975104"/>
          </a:xfrm>
          <a:prstGeom prst="roundRect">
            <a:avLst>
              <a:gd name="adj" fmla="val 3241"/>
            </a:avLst>
          </a:prstGeom>
          <a:solidFill>
            <a:srgbClr val="2A3A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57032" y="309067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30" kern="0" dirty="0">
                <a:solidFill>
                  <a:srgbClr val="E8B85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57032" y="3913632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B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policy or new funding required for Astria to operate inside them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13892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Astria contracts with health systems, county programs, and reentry partners per enrolled person — with a path to per-member reimbursement.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616305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E6B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State Medicaid Director letter #23-003  ·  Medicaid.gov reentry demonstrations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658368"/>
            <a:ext cx="10454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OF CONCEPT — NORTH CAROLINA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24128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spc="-4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mapped the whole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federally qualified health center and safety-net hospital in North Carolina, joined to county geography and population.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614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203704" y="287121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facilities mapped statewide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844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203704" y="369417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counties with no FQHC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074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203704" y="451713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counties with neither an FQHC nor a safety-net hospital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24728" y="2670048"/>
            <a:ext cx="5504688" cy="2615184"/>
          </a:xfrm>
          <a:prstGeom prst="roundRect">
            <a:avLst>
              <a:gd name="adj" fmla="val 2448"/>
            </a:avLst>
          </a:prstGeom>
          <a:solidFill>
            <a:srgbClr val="101B2D"/>
          </a:solidFill>
          <a:ln/>
        </p:spPr>
      </p:sp>
      <p:sp>
        <p:nvSpPr>
          <p:cNvPr id="12" name="Shape 10"/>
          <p:cNvSpPr/>
          <p:nvPr/>
        </p:nvSpPr>
        <p:spPr>
          <a:xfrm>
            <a:off x="6144768" y="2971800"/>
            <a:ext cx="274320" cy="274320"/>
          </a:xfrm>
          <a:prstGeom prst="star4">
            <a:avLst/>
          </a:prstGeom>
          <a:solidFill>
            <a:srgbClr val="E8B85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3419856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-40" kern="0" dirty="0">
                <a:solidFill>
                  <a:srgbClr val="E8B85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45643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anchor sites would put all 100 North Carolina counties within a 35-mile radius of an FQHC county.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27064" y="449884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infrastructure largely exists. What’s missing is the layer that holds onto someone when every other system lets go.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616305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Astria analysis · NC DSH &amp; FQHC Locations 2022 workbook, US Census county geography. Straight-line county-centroid distances.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3120" y="1554480"/>
            <a:ext cx="1234440" cy="530352"/>
          </a:xfrm>
          <a:prstGeom prst="line">
            <a:avLst/>
          </a:prstGeom>
          <a:noFill/>
          <a:ln w="12700">
            <a:solidFill>
              <a:srgbClr val="324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37560" y="2084832"/>
            <a:ext cx="1325880" cy="-329184"/>
          </a:xfrm>
          <a:prstGeom prst="line">
            <a:avLst/>
          </a:prstGeom>
          <a:noFill/>
          <a:ln w="12700">
            <a:solidFill>
              <a:srgbClr val="324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755648"/>
            <a:ext cx="1325880" cy="585216"/>
          </a:xfrm>
          <a:prstGeom prst="line">
            <a:avLst/>
          </a:prstGeom>
          <a:noFill/>
          <a:ln w="12700">
            <a:solidFill>
              <a:srgbClr val="324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320" y="2340864"/>
            <a:ext cx="1325880" cy="-420624"/>
          </a:xfrm>
          <a:prstGeom prst="line">
            <a:avLst/>
          </a:prstGeom>
          <a:noFill/>
          <a:ln w="12700">
            <a:solidFill>
              <a:srgbClr val="324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920240"/>
            <a:ext cx="1234440" cy="585216"/>
          </a:xfrm>
          <a:prstGeom prst="line">
            <a:avLst/>
          </a:prstGeom>
          <a:noFill/>
          <a:ln w="12700">
            <a:solidFill>
              <a:srgbClr val="3244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2505456"/>
            <a:ext cx="1252728" cy="-694944"/>
          </a:xfrm>
          <a:prstGeom prst="line">
            <a:avLst/>
          </a:prstGeom>
          <a:noFill/>
          <a:ln w="12700">
            <a:solidFill>
              <a:srgbClr val="6C5A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1499616"/>
            <a:ext cx="109728" cy="109728"/>
          </a:xfrm>
          <a:prstGeom prst="ellipse">
            <a:avLst/>
          </a:prstGeom>
          <a:solidFill>
            <a:srgbClr val="4A5E8A"/>
          </a:solidFill>
          <a:ln/>
        </p:spPr>
      </p:sp>
      <p:sp>
        <p:nvSpPr>
          <p:cNvPr id="9" name="Shape 7"/>
          <p:cNvSpPr/>
          <p:nvPr/>
        </p:nvSpPr>
        <p:spPr>
          <a:xfrm>
            <a:off x="3296412" y="2043684"/>
            <a:ext cx="82296" cy="82296"/>
          </a:xfrm>
          <a:prstGeom prst="ellipse">
            <a:avLst/>
          </a:prstGeom>
          <a:solidFill>
            <a:srgbClr val="4A5E8A"/>
          </a:solidFill>
          <a:ln/>
        </p:spPr>
      </p:sp>
      <p:sp>
        <p:nvSpPr>
          <p:cNvPr id="10" name="Shape 8"/>
          <p:cNvSpPr/>
          <p:nvPr/>
        </p:nvSpPr>
        <p:spPr>
          <a:xfrm>
            <a:off x="4608576" y="1700784"/>
            <a:ext cx="109728" cy="109728"/>
          </a:xfrm>
          <a:prstGeom prst="ellipse">
            <a:avLst/>
          </a:prstGeom>
          <a:solidFill>
            <a:srgbClr val="4A5E8A"/>
          </a:solidFill>
          <a:ln/>
        </p:spPr>
      </p:sp>
      <p:sp>
        <p:nvSpPr>
          <p:cNvPr id="11" name="Shape 9"/>
          <p:cNvSpPr/>
          <p:nvPr/>
        </p:nvSpPr>
        <p:spPr>
          <a:xfrm>
            <a:off x="5948172" y="2299716"/>
            <a:ext cx="82296" cy="82296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0336" y="1865376"/>
            <a:ext cx="109728" cy="109728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8492" y="2464308"/>
            <a:ext cx="82296" cy="82296"/>
          </a:xfrm>
          <a:prstGeom prst="ellipse">
            <a:avLst/>
          </a:prstGeom>
          <a:solidFill>
            <a:srgbClr val="AABEF5"/>
          </a:solidFill>
          <a:ln/>
        </p:spPr>
      </p:sp>
      <p:sp>
        <p:nvSpPr>
          <p:cNvPr id="14" name="Shape 12"/>
          <p:cNvSpPr/>
          <p:nvPr/>
        </p:nvSpPr>
        <p:spPr>
          <a:xfrm>
            <a:off x="9710928" y="1554480"/>
            <a:ext cx="365760" cy="365760"/>
          </a:xfrm>
          <a:prstGeom prst="star4">
            <a:avLst/>
          </a:prstGeom>
          <a:solidFill>
            <a:srgbClr val="E8B8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1638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Astraea is the constellation associated with balance and justice —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52958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reminder that where someone has been should not determine whether they receive care.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22452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Leaving incarceration should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never mean leaving care.</a:t>
            </a:r>
            <a:endParaRPr lang="en-US" sz="3200" dirty="0"/>
          </a:p>
        </p:txBody>
      </p:sp>
      <p:pic>
        <p:nvPicPr>
          <p:cNvPr id="18" name="Image 0" descr="/private/tmp/claude-501/-Users-suhanasaigoli-Desktop-Projects-Astria/d2e3bd46-8980-434f-ba94-01d6e71bac34/scratchpad/assets/logo-rever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36" y="4608576"/>
            <a:ext cx="1591056" cy="10241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658368"/>
            <a:ext cx="10454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02412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spc="-40" kern="0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Five students at the intersection of health, medicine, and innovation</a:t>
            </a:r>
            <a:endParaRPr lang="en-US" sz="2300" dirty="0"/>
          </a:p>
        </p:txBody>
      </p:sp>
      <p:pic>
        <p:nvPicPr>
          <p:cNvPr id="4" name="Image 0" descr="/private/tmp/claude-501/-Users-suhanasaigoli-Desktop-Projects-Astria/d2e3bd46-8980-434f-ba94-01d6e71bac34/scratchpad/assets/suh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68880"/>
            <a:ext cx="1316736" cy="1316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" y="395020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Suhan Asaigoli ’27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424281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Neuroscience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44988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Morehead-Cain Scholar</a:t>
            </a:r>
            <a:endParaRPr lang="en-US" sz="1000" dirty="0"/>
          </a:p>
        </p:txBody>
      </p:sp>
      <p:pic>
        <p:nvPicPr>
          <p:cNvPr id="8" name="Image 1" descr="/private/tmp/claude-501/-Users-suhanasaigoli-Desktop-Projects-Astria/d2e3bd46-8980-434f-ba94-01d6e71bac34/scratchpad/assets/fav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2468880"/>
            <a:ext cx="1316736" cy="1316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935224" y="395020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Favor Asabor ’27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2935224" y="424281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Policy &amp; Management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2935224" y="44988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Honors Carolina</a:t>
            </a:r>
            <a:endParaRPr lang="en-US" sz="1000" dirty="0"/>
          </a:p>
        </p:txBody>
      </p:sp>
      <p:pic>
        <p:nvPicPr>
          <p:cNvPr id="12" name="Image 2" descr="/private/tmp/claude-501/-Users-suhanasaigoli-Desktop-Projects-Astria/d2e3bd46-8980-434f-ba94-01d6e71bac34/scratchpad/assets/aid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468880"/>
            <a:ext cx="1316736" cy="1316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56632" y="395020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Aidan Gunn ’27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5056632" y="424281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Studies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5056632" y="44988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Johnston Scholar</a:t>
            </a:r>
            <a:endParaRPr lang="en-US" sz="1000" dirty="0"/>
          </a:p>
        </p:txBody>
      </p:sp>
      <p:pic>
        <p:nvPicPr>
          <p:cNvPr id="16" name="Image 3" descr="/private/tmp/claude-501/-Users-suhanasaigoli-Desktop-Projects-Astria/d2e3bd46-8980-434f-ba94-01d6e71bac34/scratchpad/assets/niharik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2468880"/>
            <a:ext cx="1316736" cy="13167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78040" y="395020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Niharika Koppolu ’29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7178040" y="424281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Biostatistics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7178040" y="44988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Morehead-Cain Scholar</a:t>
            </a:r>
            <a:endParaRPr lang="en-US" sz="1000" dirty="0"/>
          </a:p>
        </p:txBody>
      </p:sp>
      <p:pic>
        <p:nvPicPr>
          <p:cNvPr id="20" name="Image 4" descr="/private/tmp/claude-501/-Users-suhanasaigoli-Desktop-Projects-Astria/d2e3bd46-8980-434f-ba94-01d6e71bac34/scratchpad/assets/am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2468880"/>
            <a:ext cx="1316736" cy="131673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299448" y="395020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Amy Okonkwo ’28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9299448" y="424281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873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Health Sciences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9299448" y="44988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Morehead-Cain Scholar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68680" y="5138928"/>
            <a:ext cx="10454335" cy="0"/>
          </a:xfrm>
          <a:prstGeom prst="line">
            <a:avLst/>
          </a:prstGeom>
          <a:noFill/>
          <a:ln w="12700">
            <a:solidFill>
              <a:srgbClr val="DCD8CC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68680" y="5303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across</a:t>
            </a:r>
            <a:endParaRPr lang="en-US" sz="950" dirty="0"/>
          </a:p>
        </p:txBody>
      </p:sp>
      <p:pic>
        <p:nvPicPr>
          <p:cNvPr id="26" name="Image 5" descr="/private/tmp/claude-501/-Users-suhanasaigoli-Desktop-Projects-Astria/d2e3bd46-8980-434f-ba94-01d6e71bac34/scratchpad/assets/aff_cha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596128"/>
            <a:ext cx="1152144" cy="475488"/>
          </a:xfrm>
          <a:prstGeom prst="rect">
            <a:avLst/>
          </a:prstGeom>
        </p:spPr>
      </p:pic>
      <p:pic>
        <p:nvPicPr>
          <p:cNvPr id="27" name="Image 6" descr="/private/tmp/claude-501/-Users-suhanasaigoli-Desktop-Projects-Astria/d2e3bd46-8980-434f-ba94-01d6e71bac34/scratchpad/assets/aff_uncso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4872" y="5596128"/>
            <a:ext cx="877824" cy="475488"/>
          </a:xfrm>
          <a:prstGeom prst="rect">
            <a:avLst/>
          </a:prstGeom>
        </p:spPr>
      </p:pic>
      <p:pic>
        <p:nvPicPr>
          <p:cNvPr id="28" name="Image 7" descr="/private/tmp/claude-501/-Users-suhanasaigoli-Desktop-Projects-Astria/d2e3bd46-8980-434f-ba94-01d6e71bac34/scratchpad/assets/aff_ncdhh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6744" y="5596128"/>
            <a:ext cx="1298448" cy="475488"/>
          </a:xfrm>
          <a:prstGeom prst="rect">
            <a:avLst/>
          </a:prstGeom>
        </p:spPr>
      </p:pic>
      <p:pic>
        <p:nvPicPr>
          <p:cNvPr id="29" name="Image 8" descr="/private/tmp/claude-501/-Users-suhanasaigoli-Desktop-Projects-Astria/d2e3bd46-8980-434f-ba94-01d6e71bac34/scratchpad/assets/aff_heartla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5596128"/>
            <a:ext cx="1024128" cy="475488"/>
          </a:xfrm>
          <a:prstGeom prst="rect">
            <a:avLst/>
          </a:prstGeom>
        </p:spPr>
      </p:pic>
      <p:pic>
        <p:nvPicPr>
          <p:cNvPr id="30" name="Image 9" descr="/private/tmp/claude-501/-Users-suhanasaigoli-Desktop-Projects-Astria/d2e3bd46-8980-434f-ba94-01d6e71bac34/scratchpad/assets/aff_phri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7416" y="5596128"/>
            <a:ext cx="603504" cy="475488"/>
          </a:xfrm>
          <a:prstGeom prst="rect">
            <a:avLst/>
          </a:prstGeom>
        </p:spPr>
      </p:pic>
      <p:pic>
        <p:nvPicPr>
          <p:cNvPr id="31" name="Image 10" descr="/private/tmp/claude-501/-Users-suhanasaigoli-Desktop-Projects-Astria/d2e3bd46-8980-434f-ba94-01d6e71bac34/scratchpad/assets/aff_campus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4968" y="5596128"/>
            <a:ext cx="566928" cy="475488"/>
          </a:xfrm>
          <a:prstGeom prst="rect">
            <a:avLst/>
          </a:prstGeom>
        </p:spPr>
      </p:pic>
      <p:pic>
        <p:nvPicPr>
          <p:cNvPr id="32" name="Image 11" descr="/private/tmp/claude-501/-Users-suhanasaigoli-Desktop-Projects-Astria/d2e3bd46-8980-434f-ba94-01d6e71bac34/scratchpad/assets/aff_bm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5944" y="5596128"/>
            <a:ext cx="768096" cy="475488"/>
          </a:xfrm>
          <a:prstGeom prst="rect">
            <a:avLst/>
          </a:prstGeom>
        </p:spPr>
      </p:pic>
      <p:pic>
        <p:nvPicPr>
          <p:cNvPr id="33" name="Image 12" descr="/private/tmp/claude-501/-Users-suhanasaigoli-Desktop-Projects-Astria/d2e3bd46-8980-434f-ba94-01d6e71bac34/scratchpad/assets/aff_cc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8088" y="5596128"/>
            <a:ext cx="914400" cy="475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Astria — Every point of care. One path forward.</dc:title>
  <dc:subject>PptxGenJS Presentation</dc:subject>
  <dc:creator>Astria</dc:creator>
  <cp:lastModifiedBy>Astria</cp:lastModifiedBy>
  <cp:revision>1</cp:revision>
  <dcterms:created xsi:type="dcterms:W3CDTF">2026-10-07T17:28:37Z</dcterms:created>
  <dcterms:modified xsi:type="dcterms:W3CDTF">2026-10-07T17:28:37Z</dcterms:modified>
</cp:coreProperties>
</file>